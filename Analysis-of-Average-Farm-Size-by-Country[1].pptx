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14630400" cy="8229600"/>
  <p:notesSz cx="8229600" cy="14630400"/>
  <p:embeddedFontLst>
    <p:embeddedFont>
      <p:font typeface="Alexandria" panose="020B0604020202020204" charset="-78"/>
      <p:regular r:id="rId13"/>
    </p:embeddedFont>
    <p:embeddedFont>
      <p:font typeface="Nobile" panose="020B0604020202020204" charset="0"/>
      <p:regular r:id="rId14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33" d="100"/>
          <a:sy n="33" d="100"/>
        </p:scale>
        <p:origin x="45" y="6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4030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jp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524934" y="56922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Analysis of Average Farm Size by Country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685282" y="3911029"/>
            <a:ext cx="7556421" cy="2282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Research Team     :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COMPAORE Arielle,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KONDOMBO Ibrahim,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ZONGO Gilbert,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ZONGO Viviane</a:t>
            </a:r>
          </a:p>
          <a:p>
            <a:pPr marL="0" indent="0" algn="l">
              <a:lnSpc>
                <a:spcPts val="2850"/>
              </a:lnSpc>
              <a:buNone/>
            </a:pPr>
            <a:b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</a:b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0531971" y="666298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Reviewers: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Miss Otema &amp; Miss Blebo</a:t>
            </a:r>
            <a:endParaRPr lang="en-US" sz="17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D85836E7-BF5A-A8D8-14FF-6EDFFCB088CC}"/>
              </a:ext>
            </a:extLst>
          </p:cNvPr>
          <p:cNvSpPr/>
          <p:nvPr/>
        </p:nvSpPr>
        <p:spPr>
          <a:xfrm>
            <a:off x="7685282" y="255215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 ANALYSIS PROJECT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96737E-1B4F-C72F-8631-9433EB8A84E9}"/>
              </a:ext>
            </a:extLst>
          </p:cNvPr>
          <p:cNvSpPr txBox="1"/>
          <p:nvPr/>
        </p:nvSpPr>
        <p:spPr>
          <a:xfrm>
            <a:off x="9308401" y="3911029"/>
            <a:ext cx="317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B271B9D-8923-7D8F-062D-113C0217687F}"/>
              </a:ext>
            </a:extLst>
          </p:cNvPr>
          <p:cNvSpPr/>
          <p:nvPr/>
        </p:nvSpPr>
        <p:spPr>
          <a:xfrm>
            <a:off x="12826766" y="7801761"/>
            <a:ext cx="1736521" cy="30200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3FD9E52-B8AC-1D38-F8BC-BE3B3BFF347C}"/>
              </a:ext>
            </a:extLst>
          </p:cNvPr>
          <p:cNvSpPr/>
          <p:nvPr/>
        </p:nvSpPr>
        <p:spPr>
          <a:xfrm>
            <a:off x="12979166" y="7954161"/>
            <a:ext cx="1736521" cy="30200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3D79E2-FB6A-F12F-52ED-E3C0C6A31028}"/>
              </a:ext>
            </a:extLst>
          </p:cNvPr>
          <p:cNvSpPr txBox="1"/>
          <p:nvPr/>
        </p:nvSpPr>
        <p:spPr>
          <a:xfrm>
            <a:off x="13695026" y="7829490"/>
            <a:ext cx="317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1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E565408-629E-6E0F-986B-7BD195C76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370" y="26565"/>
            <a:ext cx="5971164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63266"/>
            <a:ext cx="70418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Context and Justification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20927" y="2849950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Average farm size serves as a </a:t>
            </a:r>
            <a:r>
              <a:rPr lang="en-US" sz="1750" b="1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crucial indicator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for understanding agricultural evolution and assessing the effectiveness of agricultural policies worldwide.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16924" y="4716563"/>
            <a:ext cx="62447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Studying these data patterns enables researchers to identify emerging trends, evaluate cross-country differences, and inform evidence-based policy recommendations for sustainable agricultural development.</a:t>
            </a:r>
            <a:endParaRPr lang="en-US" sz="175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343AC1-4603-8694-E196-401DBCC3F3F3}"/>
              </a:ext>
            </a:extLst>
          </p:cNvPr>
          <p:cNvSpPr/>
          <p:nvPr/>
        </p:nvSpPr>
        <p:spPr>
          <a:xfrm>
            <a:off x="12826766" y="7801761"/>
            <a:ext cx="1736521" cy="30200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8E8E0D-25E8-1ABA-99E1-2B94704A0FAB}"/>
              </a:ext>
            </a:extLst>
          </p:cNvPr>
          <p:cNvSpPr txBox="1"/>
          <p:nvPr/>
        </p:nvSpPr>
        <p:spPr>
          <a:xfrm>
            <a:off x="13695026" y="7829490"/>
            <a:ext cx="317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ABECBF-BA3A-E3E8-9F71-F4306B469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5114" y="0"/>
            <a:ext cx="6735286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3238126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Research Question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793790" y="3976211"/>
            <a:ext cx="13042821" cy="1897142"/>
          </a:xfrm>
          <a:prstGeom prst="roundRect">
            <a:avLst>
              <a:gd name="adj" fmla="val 4268"/>
            </a:avLst>
          </a:prstGeom>
          <a:solidFill>
            <a:srgbClr val="D2DDF9"/>
          </a:solidFill>
          <a:ln w="7620">
            <a:solidFill>
              <a:srgbClr val="1B54D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94172" y="4176593"/>
            <a:ext cx="578406" cy="578406"/>
          </a:xfrm>
          <a:prstGeom prst="roundRect">
            <a:avLst>
              <a:gd name="adj" fmla="val 15807384"/>
            </a:avLst>
          </a:prstGeom>
          <a:solidFill>
            <a:srgbClr val="1B54D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3239" y="4335661"/>
            <a:ext cx="260271" cy="2602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4172" y="4947761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Central Question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994172" y="5364599"/>
            <a:ext cx="12642056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"How has average farm size evolved across different countries between 1960 and 2020?"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793790" y="6090166"/>
            <a:ext cx="6424970" cy="1464826"/>
          </a:xfrm>
          <a:prstGeom prst="roundRect">
            <a:avLst>
              <a:gd name="adj" fmla="val 5528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09412" y="630578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Growth Trends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1009412" y="6722626"/>
            <a:ext cx="5993725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Identifies patterns of agricultural growth or decline across nations over six decades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411522" y="6090166"/>
            <a:ext cx="6425089" cy="1464826"/>
          </a:xfrm>
          <a:prstGeom prst="roundRect">
            <a:avLst>
              <a:gd name="adj" fmla="val 5528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627144" y="630578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Policy Impact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7627144" y="6722626"/>
            <a:ext cx="5993844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Reveals the influence of agricultural policies and socio-economic factors on farm structure</a:t>
            </a:r>
            <a:endParaRPr lang="en-US" sz="15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9E85767-5A32-4AD1-999F-98FDE764C71D}"/>
              </a:ext>
            </a:extLst>
          </p:cNvPr>
          <p:cNvSpPr/>
          <p:nvPr/>
        </p:nvSpPr>
        <p:spPr>
          <a:xfrm>
            <a:off x="12826766" y="7801761"/>
            <a:ext cx="1736521" cy="30200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3218D9-9F72-79FD-8E97-245906CDECF2}"/>
              </a:ext>
            </a:extLst>
          </p:cNvPr>
          <p:cNvSpPr txBox="1"/>
          <p:nvPr/>
        </p:nvSpPr>
        <p:spPr>
          <a:xfrm>
            <a:off x="13695026" y="7829490"/>
            <a:ext cx="317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3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F6593B2-F5BA-890D-CF34-EA03F6B435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2798"/>
            <a:ext cx="14630400" cy="32123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865346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Methodology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93790" y="1918335"/>
            <a:ext cx="7556421" cy="2286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6" name="Text 3"/>
          <p:cNvSpPr/>
          <p:nvPr/>
        </p:nvSpPr>
        <p:spPr>
          <a:xfrm>
            <a:off x="793790" y="2049066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Cleaning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93790" y="2416850"/>
            <a:ext cx="7556421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Removal of missing values, correction of data types, and elimination of duplicate entries to ensure data integrity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93790" y="3524964"/>
            <a:ext cx="7556421" cy="2286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0" name="Text 7"/>
          <p:cNvSpPr/>
          <p:nvPr/>
        </p:nvSpPr>
        <p:spPr>
          <a:xfrm>
            <a:off x="793790" y="3655695"/>
            <a:ext cx="213550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Exploratory Analysis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793790" y="4023479"/>
            <a:ext cx="7556421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Calculation of descriptive statistics including mean, median, minimum, maximum, and standard deviation for comprehensive understanding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93790" y="5131594"/>
            <a:ext cx="7556421" cy="2286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4" name="Text 11"/>
          <p:cNvSpPr/>
          <p:nvPr/>
        </p:nvSpPr>
        <p:spPr>
          <a:xfrm>
            <a:off x="793790" y="5262324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Indicator Creation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793790" y="5630108"/>
            <a:ext cx="75564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Development of annual variation metrics for average farm size to track temporal changes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93790" y="6466046"/>
            <a:ext cx="7556421" cy="2286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8" name="Text 15"/>
          <p:cNvSpPr/>
          <p:nvPr/>
        </p:nvSpPr>
        <p:spPr>
          <a:xfrm>
            <a:off x="793790" y="6596777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Visualization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793790" y="6964561"/>
            <a:ext cx="75564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Generation of comparative histograms and evolution curves to illustrate trends clearly</a:t>
            </a:r>
            <a:endParaRPr lang="en-US" sz="13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E78762B-93D1-67CB-D336-DB9825DE1F46}"/>
              </a:ext>
            </a:extLst>
          </p:cNvPr>
          <p:cNvSpPr/>
          <p:nvPr/>
        </p:nvSpPr>
        <p:spPr>
          <a:xfrm>
            <a:off x="12826766" y="7801761"/>
            <a:ext cx="1736521" cy="30200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472F4A-9217-58D5-6CD8-4CD652F16373}"/>
              </a:ext>
            </a:extLst>
          </p:cNvPr>
          <p:cNvSpPr txBox="1"/>
          <p:nvPr/>
        </p:nvSpPr>
        <p:spPr>
          <a:xfrm>
            <a:off x="13695026" y="7829490"/>
            <a:ext cx="317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4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224B562-3EEC-82D3-D245-7332E49C3B55}"/>
              </a:ext>
            </a:extLst>
          </p:cNvPr>
          <p:cNvSpPr/>
          <p:nvPr/>
        </p:nvSpPr>
        <p:spPr>
          <a:xfrm>
            <a:off x="793790" y="1625322"/>
            <a:ext cx="345989" cy="2662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7D3A5BB-743C-77DA-8F75-89C0D9340D50}"/>
              </a:ext>
            </a:extLst>
          </p:cNvPr>
          <p:cNvSpPr/>
          <p:nvPr/>
        </p:nvSpPr>
        <p:spPr>
          <a:xfrm>
            <a:off x="832314" y="3234598"/>
            <a:ext cx="345989" cy="2662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9109760E-68BC-238A-9F01-1B101ED8D69E}"/>
              </a:ext>
            </a:extLst>
          </p:cNvPr>
          <p:cNvSpPr/>
          <p:nvPr/>
        </p:nvSpPr>
        <p:spPr>
          <a:xfrm>
            <a:off x="878800" y="1634371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689AB14-1D0C-4C96-2649-1C75C01BA0EB}"/>
              </a:ext>
            </a:extLst>
          </p:cNvPr>
          <p:cNvSpPr/>
          <p:nvPr/>
        </p:nvSpPr>
        <p:spPr>
          <a:xfrm>
            <a:off x="832313" y="4840366"/>
            <a:ext cx="345989" cy="2662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305990B-1A95-9CF6-5866-B40AB4401A24}"/>
              </a:ext>
            </a:extLst>
          </p:cNvPr>
          <p:cNvSpPr/>
          <p:nvPr/>
        </p:nvSpPr>
        <p:spPr>
          <a:xfrm>
            <a:off x="832312" y="6180534"/>
            <a:ext cx="345989" cy="2662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9195C46F-F960-61EA-3973-0FD52AA099C7}"/>
              </a:ext>
            </a:extLst>
          </p:cNvPr>
          <p:cNvSpPr/>
          <p:nvPr/>
        </p:nvSpPr>
        <p:spPr>
          <a:xfrm>
            <a:off x="941712" y="3224212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835530FC-8D72-C4B6-3DB8-CA6741FB59CC}"/>
              </a:ext>
            </a:extLst>
          </p:cNvPr>
          <p:cNvSpPr/>
          <p:nvPr/>
        </p:nvSpPr>
        <p:spPr>
          <a:xfrm>
            <a:off x="941711" y="4815362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15035304-8ED7-3857-C859-FB70F2FAE462}"/>
              </a:ext>
            </a:extLst>
          </p:cNvPr>
          <p:cNvSpPr/>
          <p:nvPr/>
        </p:nvSpPr>
        <p:spPr>
          <a:xfrm>
            <a:off x="924090" y="6178808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04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FB20B0F-3A38-9A45-C5CF-D0BF743FD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93790" y="92594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Key Visualizations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86288" y="2420161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following graphs present the </a:t>
            </a:r>
            <a:r>
              <a:rPr lang="en-US" sz="1750" b="1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evolution of average farm size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across different countries spanning the period from 1960 to 2020.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3240647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These visualizations reveal critical patterns in agricultural structure transformation and highlight the diverse trajectories of farm consolidation or fragmentation worldwide.</a:t>
            </a:r>
            <a:endParaRPr lang="en-US" sz="175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6CC1582-B640-346D-3E06-17A39E0F2D2C}"/>
              </a:ext>
            </a:extLst>
          </p:cNvPr>
          <p:cNvSpPr/>
          <p:nvPr/>
        </p:nvSpPr>
        <p:spPr>
          <a:xfrm>
            <a:off x="12826766" y="7801761"/>
            <a:ext cx="1736521" cy="30200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3682B6-5F3C-08C2-4871-46FD7E7FB587}"/>
              </a:ext>
            </a:extLst>
          </p:cNvPr>
          <p:cNvSpPr txBox="1"/>
          <p:nvPr/>
        </p:nvSpPr>
        <p:spPr>
          <a:xfrm>
            <a:off x="13695026" y="7829490"/>
            <a:ext cx="317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987217" y="1117340"/>
            <a:ext cx="38988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Farm Size Distribution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9913076" y="3897216"/>
            <a:ext cx="389882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histogram illustrates the distribution of average farm sizes across the analyzed countries, revealing significant variations in agricultural structure and land consolidation patterns.</a:t>
            </a:r>
            <a:endParaRPr lang="en-US" sz="175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3BF11A1C-9871-248B-1371-9F6AF1B2D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27" y="567483"/>
            <a:ext cx="9597566" cy="7297983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35629AB-AFFD-3F79-9C3C-27A43548D0CC}"/>
              </a:ext>
            </a:extLst>
          </p:cNvPr>
          <p:cNvSpPr/>
          <p:nvPr/>
        </p:nvSpPr>
        <p:spPr>
          <a:xfrm>
            <a:off x="12826766" y="7801761"/>
            <a:ext cx="1736521" cy="30200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F3B911-470E-4B0E-6490-B5483AB745B0}"/>
              </a:ext>
            </a:extLst>
          </p:cNvPr>
          <p:cNvSpPr txBox="1"/>
          <p:nvPr/>
        </p:nvSpPr>
        <p:spPr>
          <a:xfrm>
            <a:off x="13695026" y="7829490"/>
            <a:ext cx="317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921315" y="919144"/>
            <a:ext cx="38988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Comparative Country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9773033" y="3947131"/>
            <a:ext cx="389882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Cross-country comparison reveals divergent paths in agricultural development, influenced by unique policy frameworks, economic conditions, and land tenure systems.</a:t>
            </a:r>
            <a:endParaRPr lang="en-US" sz="175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27805E69-96A1-7BB3-6272-78184B27D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5515"/>
            <a:ext cx="9462174" cy="6429003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D0ED8AD-7F57-CFCC-69FB-BDEB85A19B32}"/>
              </a:ext>
            </a:extLst>
          </p:cNvPr>
          <p:cNvSpPr/>
          <p:nvPr/>
        </p:nvSpPr>
        <p:spPr>
          <a:xfrm>
            <a:off x="12826766" y="7801761"/>
            <a:ext cx="1736521" cy="30200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1D2049-2F65-45CB-A3DE-AC0530161267}"/>
              </a:ext>
            </a:extLst>
          </p:cNvPr>
          <p:cNvSpPr txBox="1"/>
          <p:nvPr/>
        </p:nvSpPr>
        <p:spPr>
          <a:xfrm>
            <a:off x="13847426" y="7829490"/>
            <a:ext cx="317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885142" y="837473"/>
            <a:ext cx="38988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Regional Agricultural Landscapes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10885141" y="3715864"/>
            <a:ext cx="38988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Visual representation of diverse agricultural landscapes reflects the physical manifestation of varying farm size policies and economic pressures across regions.</a:t>
            </a:r>
            <a:endParaRPr lang="en-US" sz="17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72C2F4-381E-429F-2022-79AF98858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15" y="1853514"/>
            <a:ext cx="9559274" cy="515353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E2041E6-17CA-8332-0980-9B80764A3FA1}"/>
              </a:ext>
            </a:extLst>
          </p:cNvPr>
          <p:cNvSpPr/>
          <p:nvPr/>
        </p:nvSpPr>
        <p:spPr>
          <a:xfrm>
            <a:off x="12826766" y="7801761"/>
            <a:ext cx="1736521" cy="30200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F6679D-58F4-AD12-F7B1-C0006075D8A8}"/>
              </a:ext>
            </a:extLst>
          </p:cNvPr>
          <p:cNvSpPr txBox="1"/>
          <p:nvPr/>
        </p:nvSpPr>
        <p:spPr>
          <a:xfrm>
            <a:off x="13695026" y="7829490"/>
            <a:ext cx="317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706755"/>
            <a:ext cx="6294001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Results and Interpretation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793790" y="1598414"/>
            <a:ext cx="7556421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Average farm size varies </a:t>
            </a:r>
            <a:r>
              <a:rPr lang="en-US" sz="1500" b="1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significantly across countries</a:t>
            </a: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revealing three distinct patterns of agricultural structural change over the 60-year period studied.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431971"/>
            <a:ext cx="963930" cy="141910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950482" y="262473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Continuous Growth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1950482" y="3041571"/>
            <a:ext cx="6399728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Countries like France demonstrate steady farm consolidation driven by mechanization and EU agricultural policies</a:t>
            </a:r>
            <a:endParaRPr lang="en-US" sz="15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851077"/>
            <a:ext cx="963930" cy="141910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950482" y="4043839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Stagnation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1950482" y="4460677"/>
            <a:ext cx="6399728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Nations such as Spain show relative stability in farm size due to balanced policies and geographical constraints</a:t>
            </a:r>
            <a:endParaRPr lang="en-US" sz="15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270182"/>
            <a:ext cx="963930" cy="141910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950482" y="546294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Fragmentation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1950482" y="5879782"/>
            <a:ext cx="6399728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Some countries experience declining farm sizes due to inheritance practices and population pressure on agricultural land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793790" y="6906101"/>
            <a:ext cx="7556421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These divergent trends reflect country-specific agricultural policies, land tenure systems, and socio-economic conditions that shape farm structure evolution.</a:t>
            </a:r>
            <a:endParaRPr lang="en-US" sz="15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673BAB4-7DEA-841A-3D77-EC1B4EB68E0F}"/>
              </a:ext>
            </a:extLst>
          </p:cNvPr>
          <p:cNvSpPr/>
          <p:nvPr/>
        </p:nvSpPr>
        <p:spPr>
          <a:xfrm>
            <a:off x="12826766" y="7801761"/>
            <a:ext cx="1736521" cy="30200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C4C911-7002-A83C-4D08-60D8B6B1FEA8}"/>
              </a:ext>
            </a:extLst>
          </p:cNvPr>
          <p:cNvSpPr txBox="1"/>
          <p:nvPr/>
        </p:nvSpPr>
        <p:spPr>
          <a:xfrm>
            <a:off x="13695026" y="7829490"/>
            <a:ext cx="317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FBACF6A-14AD-75B9-C1DC-6D1D39C36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782066" cy="82296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D6027367-593B-C696-7C79-BF7C8F862C91}"/>
              </a:ext>
            </a:extLst>
          </p:cNvPr>
          <p:cNvSpPr/>
          <p:nvPr/>
        </p:nvSpPr>
        <p:spPr>
          <a:xfrm>
            <a:off x="0" y="0"/>
            <a:ext cx="14782065" cy="8229599"/>
          </a:xfrm>
          <a:prstGeom prst="rect">
            <a:avLst/>
          </a:prstGeom>
          <a:solidFill>
            <a:srgbClr val="F9F9FF">
              <a:alpha val="85000"/>
            </a:srgbClr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F11E246-339F-DB7F-4235-2832600C8DE3}"/>
              </a:ext>
            </a:extLst>
          </p:cNvPr>
          <p:cNvSpPr/>
          <p:nvPr/>
        </p:nvSpPr>
        <p:spPr>
          <a:xfrm>
            <a:off x="793790" y="199286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References</a:t>
            </a:r>
            <a:endParaRPr lang="en-US" sz="44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EA72A09-25D4-43AC-2030-2E803CFA788A}"/>
              </a:ext>
            </a:extLst>
          </p:cNvPr>
          <p:cNvSpPr/>
          <p:nvPr/>
        </p:nvSpPr>
        <p:spPr>
          <a:xfrm>
            <a:off x="793790" y="3268623"/>
            <a:ext cx="31006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54DA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SOURCES</a:t>
            </a:r>
            <a:endParaRPr lang="en-US" sz="2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459E85A-6FF2-F380-1619-C18821B67F52}"/>
              </a:ext>
            </a:extLst>
          </p:cNvPr>
          <p:cNvSpPr/>
          <p:nvPr/>
        </p:nvSpPr>
        <p:spPr>
          <a:xfrm>
            <a:off x="793790" y="384976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World in Data</a:t>
            </a:r>
            <a:endParaRPr lang="en-US" sz="1750" b="1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FC888B8-C553-3C21-664F-570039A8D266}"/>
              </a:ext>
            </a:extLst>
          </p:cNvPr>
          <p:cNvSpPr/>
          <p:nvPr/>
        </p:nvSpPr>
        <p:spPr>
          <a:xfrm>
            <a:off x="793790" y="429196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World Bank</a:t>
            </a:r>
            <a:endParaRPr lang="en-US" sz="1750" b="1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AB6FB31-347F-7D10-3B8D-D87B1A7923DF}"/>
              </a:ext>
            </a:extLst>
          </p:cNvPr>
          <p:cNvSpPr/>
          <p:nvPr/>
        </p:nvSpPr>
        <p:spPr>
          <a:xfrm>
            <a:off x="7599521" y="32686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54DA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USED TOOLS</a:t>
            </a:r>
            <a:endParaRPr lang="en-US" sz="2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226DA73-98C3-3ADA-21A9-A9877E825E79}"/>
              </a:ext>
            </a:extLst>
          </p:cNvPr>
          <p:cNvSpPr/>
          <p:nvPr/>
        </p:nvSpPr>
        <p:spPr>
          <a:xfrm>
            <a:off x="7599521" y="384976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Python</a:t>
            </a:r>
            <a:endParaRPr lang="en-US" sz="1750" b="1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34DC8D9-44C8-64D7-54F3-36CDAA62FA6B}"/>
              </a:ext>
            </a:extLst>
          </p:cNvPr>
          <p:cNvSpPr/>
          <p:nvPr/>
        </p:nvSpPr>
        <p:spPr>
          <a:xfrm>
            <a:off x="7599521" y="429196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Pandas</a:t>
            </a:r>
            <a:endParaRPr lang="en-US" sz="1750" b="1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65C12FE-9A4F-B75D-F54D-390EEACF37F1}"/>
              </a:ext>
            </a:extLst>
          </p:cNvPr>
          <p:cNvSpPr/>
          <p:nvPr/>
        </p:nvSpPr>
        <p:spPr>
          <a:xfrm>
            <a:off x="7599521" y="473416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NumPy</a:t>
            </a:r>
            <a:endParaRPr lang="en-US" sz="1750" b="1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A8515D9-F39B-8989-FE6E-F92B717B33F7}"/>
              </a:ext>
            </a:extLst>
          </p:cNvPr>
          <p:cNvSpPr/>
          <p:nvPr/>
        </p:nvSpPr>
        <p:spPr>
          <a:xfrm>
            <a:off x="7599521" y="517636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Matplotlib</a:t>
            </a:r>
            <a:endParaRPr lang="en-US" sz="1750" b="1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8958253-FCD2-BCF3-54D3-068A77D9D8A6}"/>
              </a:ext>
            </a:extLst>
          </p:cNvPr>
          <p:cNvSpPr/>
          <p:nvPr/>
        </p:nvSpPr>
        <p:spPr>
          <a:xfrm>
            <a:off x="793790" y="587371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METHODE : </a:t>
            </a:r>
            <a:r>
              <a:rPr lang="en-US" dirty="0"/>
              <a:t>Exploratory analysis, variation indicators, visualizations</a:t>
            </a:r>
          </a:p>
          <a:p>
            <a:br>
              <a:rPr lang="en-US" dirty="0"/>
            </a:br>
            <a:endParaRPr lang="en-US" sz="1750" b="1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5FE0D5E-8F5E-14AC-4AAB-CF9167195ADA}"/>
              </a:ext>
            </a:extLst>
          </p:cNvPr>
          <p:cNvSpPr/>
          <p:nvPr/>
        </p:nvSpPr>
        <p:spPr>
          <a:xfrm>
            <a:off x="12826766" y="7801761"/>
            <a:ext cx="1736521" cy="30200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36DD1B-788F-7586-8BD5-811C15E52D23}"/>
              </a:ext>
            </a:extLst>
          </p:cNvPr>
          <p:cNvSpPr txBox="1"/>
          <p:nvPr/>
        </p:nvSpPr>
        <p:spPr>
          <a:xfrm>
            <a:off x="13695026" y="7829490"/>
            <a:ext cx="474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15591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466</Words>
  <Application>Microsoft Office PowerPoint</Application>
  <PresentationFormat>Custom</PresentationFormat>
  <Paragraphs>81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Alexandria Light</vt:lpstr>
      <vt:lpstr>Alexandria</vt:lpstr>
      <vt:lpstr>Arial</vt:lpstr>
      <vt:lpstr>Nobile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GilbertCS26</dc:creator>
  <cp:lastModifiedBy>Gilbert ZONGO</cp:lastModifiedBy>
  <cp:revision>5</cp:revision>
  <dcterms:created xsi:type="dcterms:W3CDTF">2025-12-19T09:08:04Z</dcterms:created>
  <dcterms:modified xsi:type="dcterms:W3CDTF">2025-12-19T11:28:42Z</dcterms:modified>
</cp:coreProperties>
</file>